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6" r:id="rId2"/>
    <p:sldId id="270" r:id="rId3"/>
    <p:sldId id="269" r:id="rId4"/>
    <p:sldId id="257" r:id="rId5"/>
    <p:sldId id="258" r:id="rId6"/>
    <p:sldId id="259" r:id="rId7"/>
    <p:sldId id="261" r:id="rId8"/>
    <p:sldId id="275" r:id="rId9"/>
    <p:sldId id="276" r:id="rId10"/>
    <p:sldId id="277" r:id="rId11"/>
    <p:sldId id="262" r:id="rId12"/>
    <p:sldId id="263" r:id="rId13"/>
    <p:sldId id="264" r:id="rId14"/>
    <p:sldId id="27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C3CCDF-7476-4C5E-B249-D3B596A65BC5}" type="datetimeFigureOut">
              <a:rPr lang="en-AE" smtClean="0"/>
              <a:t>10/08/2026</a:t>
            </a:fld>
            <a:endParaRPr lang="en-AE"/>
          </a:p>
        </p:txBody>
      </p:sp>
      <p:sp>
        <p:nvSpPr>
          <p:cNvPr id="5" name="Footer Placeholder 4"/>
          <p:cNvSpPr>
            <a:spLocks noGrp="1"/>
          </p:cNvSpPr>
          <p:nvPr>
            <p:ph type="ftr" sz="quarter" idx="11"/>
          </p:nvPr>
        </p:nvSpPr>
        <p:spPr>
          <a:xfrm>
            <a:off x="2493105" y="329307"/>
            <a:ext cx="4897310" cy="309201"/>
          </a:xfrm>
        </p:spPr>
        <p:txBody>
          <a:bodyPr/>
          <a:lstStyle/>
          <a:p>
            <a:endParaRPr lang="en-AE"/>
          </a:p>
        </p:txBody>
      </p:sp>
      <p:sp>
        <p:nvSpPr>
          <p:cNvPr id="6" name="Slide Number Placeholder 5"/>
          <p:cNvSpPr>
            <a:spLocks noGrp="1"/>
          </p:cNvSpPr>
          <p:nvPr>
            <p:ph type="sldNum" sz="quarter" idx="12"/>
          </p:nvPr>
        </p:nvSpPr>
        <p:spPr>
          <a:xfrm>
            <a:off x="1437664" y="798973"/>
            <a:ext cx="811019" cy="503578"/>
          </a:xfrm>
        </p:spPr>
        <p:txBody>
          <a:bodyPr/>
          <a:lstStyle/>
          <a:p>
            <a:fld id="{C2799309-F282-4B58-AFE1-6D5B580B8709}" type="slidenum">
              <a:rPr lang="en-AE" smtClean="0"/>
              <a:t>‹#›</a:t>
            </a:fld>
            <a:endParaRPr lang="en-AE"/>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189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C3CCDF-7476-4C5E-B249-D3B596A65BC5}" type="datetimeFigureOut">
              <a:rPr lang="en-AE" smtClean="0"/>
              <a:t>10/08/2026</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C2799309-F282-4B58-AFE1-6D5B580B8709}" type="slidenum">
              <a:rPr lang="en-AE" smtClean="0"/>
              <a:t>‹#›</a:t>
            </a:fld>
            <a:endParaRPr lang="en-AE"/>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6902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C3CCDF-7476-4C5E-B249-D3B596A65BC5}" type="datetimeFigureOut">
              <a:rPr lang="en-AE" smtClean="0"/>
              <a:t>10/08/2026</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C2799309-F282-4B58-AFE1-6D5B580B8709}" type="slidenum">
              <a:rPr lang="en-AE" smtClean="0"/>
              <a:t>‹#›</a:t>
            </a:fld>
            <a:endParaRPr lang="en-AE"/>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41378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C3CCDF-7476-4C5E-B249-D3B596A65BC5}" type="datetimeFigureOut">
              <a:rPr lang="en-AE" smtClean="0"/>
              <a:t>10/08/2026</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C2799309-F282-4B58-AFE1-6D5B580B8709}" type="slidenum">
              <a:rPr lang="en-AE" smtClean="0"/>
              <a:t>‹#›</a:t>
            </a:fld>
            <a:endParaRPr lang="en-AE"/>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0451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C3CCDF-7476-4C5E-B249-D3B596A65BC5}" type="datetimeFigureOut">
              <a:rPr lang="en-AE" smtClean="0"/>
              <a:t>10/08/2026</a:t>
            </a:fld>
            <a:endParaRPr lang="en-AE"/>
          </a:p>
        </p:txBody>
      </p:sp>
      <p:sp>
        <p:nvSpPr>
          <p:cNvPr id="8" name="Footer Placeholder 7"/>
          <p:cNvSpPr>
            <a:spLocks noGrp="1"/>
          </p:cNvSpPr>
          <p:nvPr>
            <p:ph type="ftr" sz="quarter" idx="11"/>
          </p:nvPr>
        </p:nvSpPr>
        <p:spPr/>
        <p:txBody>
          <a:bodyPr/>
          <a:lstStyle/>
          <a:p>
            <a:endParaRPr lang="en-AE"/>
          </a:p>
        </p:txBody>
      </p:sp>
      <p:sp>
        <p:nvSpPr>
          <p:cNvPr id="9" name="Slide Number Placeholder 8"/>
          <p:cNvSpPr>
            <a:spLocks noGrp="1"/>
          </p:cNvSpPr>
          <p:nvPr>
            <p:ph type="sldNum" sz="quarter" idx="12"/>
          </p:nvPr>
        </p:nvSpPr>
        <p:spPr/>
        <p:txBody>
          <a:bodyPr/>
          <a:lstStyle/>
          <a:p>
            <a:fld id="{C2799309-F282-4B58-AFE1-6D5B580B8709}" type="slidenum">
              <a:rPr lang="en-AE" smtClean="0"/>
              <a:t>‹#›</a:t>
            </a:fld>
            <a:endParaRPr lang="en-AE"/>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40672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C3CCDF-7476-4C5E-B249-D3B596A65BC5}" type="datetimeFigureOut">
              <a:rPr lang="en-AE" smtClean="0"/>
              <a:t>10/08/2026</a:t>
            </a:fld>
            <a:endParaRPr lang="en-AE"/>
          </a:p>
        </p:txBody>
      </p:sp>
      <p:sp>
        <p:nvSpPr>
          <p:cNvPr id="4" name="Footer Placeholder 3"/>
          <p:cNvSpPr>
            <a:spLocks noGrp="1"/>
          </p:cNvSpPr>
          <p:nvPr>
            <p:ph type="ftr" sz="quarter" idx="11"/>
          </p:nvPr>
        </p:nvSpPr>
        <p:spPr/>
        <p:txBody>
          <a:bodyPr/>
          <a:lstStyle/>
          <a:p>
            <a:endParaRPr lang="en-AE"/>
          </a:p>
        </p:txBody>
      </p:sp>
      <p:sp>
        <p:nvSpPr>
          <p:cNvPr id="5" name="Slide Number Placeholder 4"/>
          <p:cNvSpPr>
            <a:spLocks noGrp="1"/>
          </p:cNvSpPr>
          <p:nvPr>
            <p:ph type="sldNum" sz="quarter" idx="12"/>
          </p:nvPr>
        </p:nvSpPr>
        <p:spPr/>
        <p:txBody>
          <a:bodyPr/>
          <a:lstStyle/>
          <a:p>
            <a:fld id="{C2799309-F282-4B58-AFE1-6D5B580B8709}" type="slidenum">
              <a:rPr lang="en-AE" smtClean="0"/>
              <a:t>‹#›</a:t>
            </a:fld>
            <a:endParaRPr lang="en-AE"/>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6473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C3CCDF-7476-4C5E-B249-D3B596A65BC5}" type="datetimeFigureOut">
              <a:rPr lang="en-AE" smtClean="0"/>
              <a:t>10/08/2026</a:t>
            </a:fld>
            <a:endParaRPr lang="en-AE"/>
          </a:p>
        </p:txBody>
      </p:sp>
      <p:sp>
        <p:nvSpPr>
          <p:cNvPr id="3" name="Footer Placeholder 2"/>
          <p:cNvSpPr>
            <a:spLocks noGrp="1"/>
          </p:cNvSpPr>
          <p:nvPr>
            <p:ph type="ftr" sz="quarter" idx="11"/>
          </p:nvPr>
        </p:nvSpPr>
        <p:spPr/>
        <p:txBody>
          <a:bodyPr/>
          <a:lstStyle/>
          <a:p>
            <a:endParaRPr lang="en-AE"/>
          </a:p>
        </p:txBody>
      </p:sp>
      <p:sp>
        <p:nvSpPr>
          <p:cNvPr id="4" name="Slide Number Placeholder 3"/>
          <p:cNvSpPr>
            <a:spLocks noGrp="1"/>
          </p:cNvSpPr>
          <p:nvPr>
            <p:ph type="sldNum" sz="quarter" idx="12"/>
          </p:nvPr>
        </p:nvSpPr>
        <p:spPr/>
        <p:txBody>
          <a:bodyPr/>
          <a:lstStyle/>
          <a:p>
            <a:fld id="{C2799309-F282-4B58-AFE1-6D5B580B8709}" type="slidenum">
              <a:rPr lang="en-AE" smtClean="0"/>
              <a:t>‹#›</a:t>
            </a:fld>
            <a:endParaRPr lang="en-AE"/>
          </a:p>
        </p:txBody>
      </p:sp>
    </p:spTree>
    <p:extLst>
      <p:ext uri="{BB962C8B-B14F-4D97-AF65-F5344CB8AC3E}">
        <p14:creationId xmlns:p14="http://schemas.microsoft.com/office/powerpoint/2010/main" val="1910376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C3CCDF-7476-4C5E-B249-D3B596A65BC5}" type="datetimeFigureOut">
              <a:rPr lang="en-AE" smtClean="0"/>
              <a:t>10/08/2026</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C2799309-F282-4B58-AFE1-6D5B580B8709}" type="slidenum">
              <a:rPr lang="en-AE" smtClean="0"/>
              <a:t>‹#›</a:t>
            </a:fld>
            <a:endParaRPr lang="en-AE"/>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14822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7FC3CCDF-7476-4C5E-B249-D3B596A65BC5}" type="datetimeFigureOut">
              <a:rPr lang="en-AE" smtClean="0"/>
              <a:t>10/08/2026</a:t>
            </a:fld>
            <a:endParaRPr lang="en-AE"/>
          </a:p>
        </p:txBody>
      </p:sp>
      <p:sp>
        <p:nvSpPr>
          <p:cNvPr id="6" name="Footer Placeholder 5"/>
          <p:cNvSpPr>
            <a:spLocks noGrp="1"/>
          </p:cNvSpPr>
          <p:nvPr>
            <p:ph type="ftr" sz="quarter" idx="11"/>
          </p:nvPr>
        </p:nvSpPr>
        <p:spPr>
          <a:xfrm>
            <a:off x="1534910" y="318640"/>
            <a:ext cx="5453475" cy="320931"/>
          </a:xfrm>
        </p:spPr>
        <p:txBody>
          <a:bodyPr/>
          <a:lstStyle/>
          <a:p>
            <a:endParaRPr lang="en-AE"/>
          </a:p>
        </p:txBody>
      </p:sp>
      <p:sp>
        <p:nvSpPr>
          <p:cNvPr id="7" name="Slide Number Placeholder 6"/>
          <p:cNvSpPr>
            <a:spLocks noGrp="1"/>
          </p:cNvSpPr>
          <p:nvPr>
            <p:ph type="sldNum" sz="quarter" idx="12"/>
          </p:nvPr>
        </p:nvSpPr>
        <p:spPr/>
        <p:txBody>
          <a:bodyPr/>
          <a:lstStyle/>
          <a:p>
            <a:fld id="{C2799309-F282-4B58-AFE1-6D5B580B8709}" type="slidenum">
              <a:rPr lang="en-AE" smtClean="0"/>
              <a:t>‹#›</a:t>
            </a:fld>
            <a:endParaRPr lang="en-AE"/>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5614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C3CCDF-7476-4C5E-B249-D3B596A65BC5}" type="datetimeFigureOut">
              <a:rPr lang="en-AE" smtClean="0"/>
              <a:t>10/08/2026</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C2799309-F282-4B58-AFE1-6D5B580B8709}" type="slidenum">
              <a:rPr lang="en-AE" smtClean="0"/>
              <a:t>‹#›</a:t>
            </a:fld>
            <a:endParaRPr lang="en-AE"/>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85048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C3CCDF-7476-4C5E-B249-D3B596A65BC5}" type="datetimeFigureOut">
              <a:rPr lang="en-AE" smtClean="0"/>
              <a:t>10/08/2026</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C2799309-F282-4B58-AFE1-6D5B580B8709}" type="slidenum">
              <a:rPr lang="en-AE" smtClean="0"/>
              <a:t>‹#›</a:t>
            </a:fld>
            <a:endParaRPr lang="en-AE"/>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95002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FC3CCDF-7476-4C5E-B249-D3B596A65BC5}" type="datetimeFigureOut">
              <a:rPr lang="en-AE" smtClean="0"/>
              <a:t>10/08/2026</a:t>
            </a:fld>
            <a:endParaRPr lang="en-AE"/>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AE"/>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C2799309-F282-4B58-AFE1-6D5B580B8709}" type="slidenum">
              <a:rPr lang="en-AE" smtClean="0"/>
              <a:t>‹#›</a:t>
            </a:fld>
            <a:endParaRPr lang="en-AE"/>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324654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CB56C-96E2-4F4A-B135-30DAAB39B7B6}"/>
              </a:ext>
            </a:extLst>
          </p:cNvPr>
          <p:cNvSpPr>
            <a:spLocks noGrp="1"/>
          </p:cNvSpPr>
          <p:nvPr>
            <p:ph type="ctrTitle"/>
          </p:nvPr>
        </p:nvSpPr>
        <p:spPr>
          <a:xfrm>
            <a:off x="2387087" y="1484243"/>
            <a:ext cx="8561747" cy="1117364"/>
          </a:xfrm>
        </p:spPr>
        <p:txBody>
          <a:bodyPr/>
          <a:lstStyle/>
          <a:p>
            <a:r>
              <a:rPr lang="en-US" dirty="0"/>
              <a:t>Adventure Works</a:t>
            </a:r>
            <a:endParaRPr lang="en-AE" dirty="0"/>
          </a:p>
        </p:txBody>
      </p:sp>
      <p:sp>
        <p:nvSpPr>
          <p:cNvPr id="3" name="Subtitle 2">
            <a:extLst>
              <a:ext uri="{FF2B5EF4-FFF2-40B4-BE49-F238E27FC236}">
                <a16:creationId xmlns:a16="http://schemas.microsoft.com/office/drawing/2014/main" id="{2C02F786-9C07-4602-B9F9-A007742870D5}"/>
              </a:ext>
            </a:extLst>
          </p:cNvPr>
          <p:cNvSpPr>
            <a:spLocks noGrp="1"/>
          </p:cNvSpPr>
          <p:nvPr>
            <p:ph type="subTitle" idx="1"/>
          </p:nvPr>
        </p:nvSpPr>
        <p:spPr>
          <a:xfrm>
            <a:off x="4626707" y="2905039"/>
            <a:ext cx="6558129" cy="523961"/>
          </a:xfrm>
        </p:spPr>
        <p:txBody>
          <a:bodyPr/>
          <a:lstStyle/>
          <a:p>
            <a:r>
              <a:rPr lang="en-US" dirty="0"/>
              <a:t>Adventure Works Sales &amp; Performance Analysis</a:t>
            </a:r>
            <a:endParaRPr lang="en-AE" dirty="0"/>
          </a:p>
        </p:txBody>
      </p:sp>
    </p:spTree>
    <p:extLst>
      <p:ext uri="{BB962C8B-B14F-4D97-AF65-F5344CB8AC3E}">
        <p14:creationId xmlns:p14="http://schemas.microsoft.com/office/powerpoint/2010/main" val="2962375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77042-851D-0FDD-9198-E9C5A35EEEFC}"/>
              </a:ext>
            </a:extLst>
          </p:cNvPr>
          <p:cNvSpPr>
            <a:spLocks noGrp="1"/>
          </p:cNvSpPr>
          <p:nvPr>
            <p:ph type="title"/>
          </p:nvPr>
        </p:nvSpPr>
        <p:spPr/>
        <p:txBody>
          <a:bodyPr/>
          <a:lstStyle/>
          <a:p>
            <a:r>
              <a:rPr lang="en-IN" b="1" dirty="0"/>
              <a:t>Group members</a:t>
            </a:r>
          </a:p>
        </p:txBody>
      </p:sp>
      <p:sp>
        <p:nvSpPr>
          <p:cNvPr id="3" name="Content Placeholder 2">
            <a:extLst>
              <a:ext uri="{FF2B5EF4-FFF2-40B4-BE49-F238E27FC236}">
                <a16:creationId xmlns:a16="http://schemas.microsoft.com/office/drawing/2014/main" id="{682E01E2-5545-631C-9E22-8E5101556D4B}"/>
              </a:ext>
            </a:extLst>
          </p:cNvPr>
          <p:cNvSpPr>
            <a:spLocks noGrp="1"/>
          </p:cNvSpPr>
          <p:nvPr>
            <p:ph idx="1"/>
          </p:nvPr>
        </p:nvSpPr>
        <p:spPr/>
        <p:txBody>
          <a:bodyPr>
            <a:normAutofit/>
          </a:bodyPr>
          <a:lstStyle/>
          <a:p>
            <a:r>
              <a:rPr lang="en-IN" dirty="0" err="1"/>
              <a:t>Nimmakuri</a:t>
            </a:r>
            <a:r>
              <a:rPr lang="en-IN" dirty="0"/>
              <a:t> . Ramya Harini</a:t>
            </a:r>
          </a:p>
          <a:p>
            <a:r>
              <a:rPr lang="en-IN" dirty="0"/>
              <a:t>Golla </a:t>
            </a:r>
            <a:r>
              <a:rPr lang="en-IN" dirty="0" err="1"/>
              <a:t>Sabhina</a:t>
            </a:r>
            <a:endParaRPr lang="en-IN" dirty="0"/>
          </a:p>
          <a:p>
            <a:r>
              <a:rPr lang="en-IN" dirty="0"/>
              <a:t>Abhishek Kumar</a:t>
            </a:r>
          </a:p>
          <a:p>
            <a:r>
              <a:rPr lang="en-IN" dirty="0" err="1"/>
              <a:t>Jindam</a:t>
            </a:r>
            <a:r>
              <a:rPr lang="en-IN" dirty="0"/>
              <a:t> Nikitha</a:t>
            </a:r>
          </a:p>
          <a:p>
            <a:r>
              <a:rPr lang="en-IN" dirty="0"/>
              <a:t>Geethanjali M</a:t>
            </a:r>
          </a:p>
          <a:p>
            <a:r>
              <a:rPr lang="en-IN" dirty="0"/>
              <a:t>Gouse </a:t>
            </a:r>
            <a:r>
              <a:rPr lang="en-IN" dirty="0" err="1"/>
              <a:t>Saklen</a:t>
            </a:r>
            <a:endParaRPr lang="en-IN" dirty="0"/>
          </a:p>
          <a:p>
            <a:r>
              <a:rPr lang="en-IN" dirty="0"/>
              <a:t>Anup Nair</a:t>
            </a:r>
          </a:p>
        </p:txBody>
      </p:sp>
    </p:spTree>
    <p:extLst>
      <p:ext uri="{BB962C8B-B14F-4D97-AF65-F5344CB8AC3E}">
        <p14:creationId xmlns:p14="http://schemas.microsoft.com/office/powerpoint/2010/main" val="2528078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999DF-9A5A-EC30-4248-216377E1AD98}"/>
              </a:ext>
            </a:extLst>
          </p:cNvPr>
          <p:cNvSpPr>
            <a:spLocks noGrp="1"/>
          </p:cNvSpPr>
          <p:nvPr>
            <p:ph type="title"/>
          </p:nvPr>
        </p:nvSpPr>
        <p:spPr/>
        <p:txBody>
          <a:bodyPr/>
          <a:lstStyle/>
          <a:p>
            <a:r>
              <a:rPr lang="en-IN" b="1" dirty="0"/>
              <a:t>Project summary</a:t>
            </a:r>
          </a:p>
        </p:txBody>
      </p:sp>
      <p:sp>
        <p:nvSpPr>
          <p:cNvPr id="3" name="Content Placeholder 2">
            <a:extLst>
              <a:ext uri="{FF2B5EF4-FFF2-40B4-BE49-F238E27FC236}">
                <a16:creationId xmlns:a16="http://schemas.microsoft.com/office/drawing/2014/main" id="{C1AD651A-AAF1-757D-EBF9-DF974BAE758C}"/>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Analyzed </a:t>
            </a:r>
            <a:r>
              <a:rPr lang="en-US" sz="2400" dirty="0" err="1">
                <a:latin typeface="Times New Roman" panose="02020603050405020304" pitchFamily="18" charset="0"/>
                <a:cs typeface="Times New Roman" panose="02020603050405020304" pitchFamily="18" charset="0"/>
              </a:rPr>
              <a:t>AdventureWorks</a:t>
            </a:r>
            <a:r>
              <a:rPr lang="en-US" sz="2400" dirty="0">
                <a:latin typeface="Times New Roman" panose="02020603050405020304" pitchFamily="18" charset="0"/>
                <a:cs typeface="Times New Roman" panose="02020603050405020304" pitchFamily="18" charset="0"/>
              </a:rPr>
              <a:t> sales data using SQL, Excel, and Power BI to evaluate sales performance, customer behavior, product trends, and regional performance. Developed interactive dashboards with KPIs, charts, filters, and slicers, performed data transformation and modeling, and generated actionable business insights for better decision-making.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5399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06E65-1E04-452A-9C13-CCFB8CC5CEBB}"/>
              </a:ext>
            </a:extLst>
          </p:cNvPr>
          <p:cNvSpPr>
            <a:spLocks noGrp="1"/>
          </p:cNvSpPr>
          <p:nvPr>
            <p:ph type="title"/>
          </p:nvPr>
        </p:nvSpPr>
        <p:spPr>
          <a:xfrm>
            <a:off x="1455183" y="848139"/>
            <a:ext cx="9520158" cy="740571"/>
          </a:xfrm>
        </p:spPr>
        <p:txBody>
          <a:bodyPr/>
          <a:lstStyle/>
          <a:p>
            <a:r>
              <a:rPr lang="en-US" b="1" dirty="0">
                <a:latin typeface="Times New Roman" panose="02020603050405020304" pitchFamily="18" charset="0"/>
                <a:cs typeface="Times New Roman" panose="02020603050405020304" pitchFamily="18" charset="0"/>
              </a:rPr>
              <a:t>Workflow Followed</a:t>
            </a:r>
            <a:endParaRPr lang="en-AE" b="1" dirty="0">
              <a:latin typeface="Times New Roman" panose="02020603050405020304" pitchFamily="18" charset="0"/>
              <a:cs typeface="Times New Roman" panose="02020603050405020304" pitchFamily="18" charset="0"/>
            </a:endParaRPr>
          </a:p>
        </p:txBody>
      </p:sp>
      <p:grpSp>
        <p:nvGrpSpPr>
          <p:cNvPr id="30" name="Group 29">
            <a:extLst>
              <a:ext uri="{FF2B5EF4-FFF2-40B4-BE49-F238E27FC236}">
                <a16:creationId xmlns:a16="http://schemas.microsoft.com/office/drawing/2014/main" id="{6137C067-565E-4F20-87F2-4E4F4671D8DB}"/>
              </a:ext>
            </a:extLst>
          </p:cNvPr>
          <p:cNvGrpSpPr/>
          <p:nvPr/>
        </p:nvGrpSpPr>
        <p:grpSpPr>
          <a:xfrm>
            <a:off x="1987826" y="1921564"/>
            <a:ext cx="7898295" cy="3810432"/>
            <a:chOff x="1590261" y="1802294"/>
            <a:chExt cx="7898295" cy="3810432"/>
          </a:xfrm>
        </p:grpSpPr>
        <p:sp>
          <p:nvSpPr>
            <p:cNvPr id="4" name="Rectangle: Rounded Corners 3">
              <a:extLst>
                <a:ext uri="{FF2B5EF4-FFF2-40B4-BE49-F238E27FC236}">
                  <a16:creationId xmlns:a16="http://schemas.microsoft.com/office/drawing/2014/main" id="{D95BE1D2-6B9A-4DEA-8EBC-2721101BF931}"/>
                </a:ext>
              </a:extLst>
            </p:cNvPr>
            <p:cNvSpPr/>
            <p:nvPr/>
          </p:nvSpPr>
          <p:spPr>
            <a:xfrm>
              <a:off x="1590261" y="1802295"/>
              <a:ext cx="1616765" cy="8348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Collection</a:t>
              </a:r>
              <a:endParaRPr lang="en-AE" dirty="0"/>
            </a:p>
          </p:txBody>
        </p:sp>
        <p:sp>
          <p:nvSpPr>
            <p:cNvPr id="5" name="Rectangle: Rounded Corners 4">
              <a:extLst>
                <a:ext uri="{FF2B5EF4-FFF2-40B4-BE49-F238E27FC236}">
                  <a16:creationId xmlns:a16="http://schemas.microsoft.com/office/drawing/2014/main" id="{3BE93718-6B91-4EA1-B59D-6E58E678C4C8}"/>
                </a:ext>
              </a:extLst>
            </p:cNvPr>
            <p:cNvSpPr/>
            <p:nvPr/>
          </p:nvSpPr>
          <p:spPr>
            <a:xfrm>
              <a:off x="4672218" y="1802295"/>
              <a:ext cx="1734381" cy="8348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Cleaning </a:t>
              </a:r>
            </a:p>
            <a:p>
              <a:pPr algn="ctr"/>
              <a:r>
                <a:rPr lang="en-US" dirty="0"/>
                <a:t>&amp;Preparation</a:t>
              </a:r>
              <a:endParaRPr lang="en-AE" dirty="0"/>
            </a:p>
          </p:txBody>
        </p:sp>
        <p:sp>
          <p:nvSpPr>
            <p:cNvPr id="6" name="Rectangle: Rounded Corners 5">
              <a:extLst>
                <a:ext uri="{FF2B5EF4-FFF2-40B4-BE49-F238E27FC236}">
                  <a16:creationId xmlns:a16="http://schemas.microsoft.com/office/drawing/2014/main" id="{F0D4E81C-EB55-4B2F-95C5-375DC7818228}"/>
                </a:ext>
              </a:extLst>
            </p:cNvPr>
            <p:cNvSpPr/>
            <p:nvPr/>
          </p:nvSpPr>
          <p:spPr>
            <a:xfrm>
              <a:off x="7871791" y="1802294"/>
              <a:ext cx="1616765" cy="8348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Modeling</a:t>
              </a:r>
              <a:endParaRPr lang="en-AE" dirty="0"/>
            </a:p>
          </p:txBody>
        </p:sp>
        <p:sp>
          <p:nvSpPr>
            <p:cNvPr id="7" name="Rectangle: Rounded Corners 6">
              <a:extLst>
                <a:ext uri="{FF2B5EF4-FFF2-40B4-BE49-F238E27FC236}">
                  <a16:creationId xmlns:a16="http://schemas.microsoft.com/office/drawing/2014/main" id="{94DE60E6-A430-4911-B58A-2DE64C3792C6}"/>
                </a:ext>
              </a:extLst>
            </p:cNvPr>
            <p:cNvSpPr/>
            <p:nvPr/>
          </p:nvSpPr>
          <p:spPr>
            <a:xfrm>
              <a:off x="7871791" y="3304091"/>
              <a:ext cx="1616765" cy="8348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Analysis</a:t>
              </a:r>
              <a:endParaRPr lang="en-AE" dirty="0"/>
            </a:p>
          </p:txBody>
        </p:sp>
        <p:sp>
          <p:nvSpPr>
            <p:cNvPr id="8" name="Rectangle: Rounded Corners 7">
              <a:extLst>
                <a:ext uri="{FF2B5EF4-FFF2-40B4-BE49-F238E27FC236}">
                  <a16:creationId xmlns:a16="http://schemas.microsoft.com/office/drawing/2014/main" id="{71CCC529-21A9-40A8-B6A3-8FFB1675BAE6}"/>
                </a:ext>
              </a:extLst>
            </p:cNvPr>
            <p:cNvSpPr/>
            <p:nvPr/>
          </p:nvSpPr>
          <p:spPr>
            <a:xfrm>
              <a:off x="7871791" y="4755983"/>
              <a:ext cx="1616765" cy="8348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Visualization</a:t>
              </a:r>
              <a:endParaRPr lang="en-AE" dirty="0"/>
            </a:p>
          </p:txBody>
        </p:sp>
        <p:sp>
          <p:nvSpPr>
            <p:cNvPr id="9" name="Rectangle: Rounded Corners 8">
              <a:extLst>
                <a:ext uri="{FF2B5EF4-FFF2-40B4-BE49-F238E27FC236}">
                  <a16:creationId xmlns:a16="http://schemas.microsoft.com/office/drawing/2014/main" id="{E5F058E9-40F0-4463-8A65-515428D72DE3}"/>
                </a:ext>
              </a:extLst>
            </p:cNvPr>
            <p:cNvSpPr/>
            <p:nvPr/>
          </p:nvSpPr>
          <p:spPr>
            <a:xfrm>
              <a:off x="4789834" y="4777839"/>
              <a:ext cx="1616765" cy="8348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Dashboard Creation</a:t>
              </a:r>
              <a:endParaRPr lang="en-AE" dirty="0"/>
            </a:p>
          </p:txBody>
        </p:sp>
        <p:sp>
          <p:nvSpPr>
            <p:cNvPr id="10" name="Rectangle: Rounded Corners 9">
              <a:extLst>
                <a:ext uri="{FF2B5EF4-FFF2-40B4-BE49-F238E27FC236}">
                  <a16:creationId xmlns:a16="http://schemas.microsoft.com/office/drawing/2014/main" id="{4DF0F932-A4EA-41F7-9297-FCC5025AE5D1}"/>
                </a:ext>
              </a:extLst>
            </p:cNvPr>
            <p:cNvSpPr/>
            <p:nvPr/>
          </p:nvSpPr>
          <p:spPr>
            <a:xfrm>
              <a:off x="1590261" y="4755983"/>
              <a:ext cx="1734381" cy="8348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Insights &amp; Interpretation</a:t>
              </a:r>
              <a:endParaRPr lang="en-AE" dirty="0"/>
            </a:p>
          </p:txBody>
        </p:sp>
        <p:cxnSp>
          <p:nvCxnSpPr>
            <p:cNvPr id="12" name="Straight Arrow Connector 11">
              <a:extLst>
                <a:ext uri="{FF2B5EF4-FFF2-40B4-BE49-F238E27FC236}">
                  <a16:creationId xmlns:a16="http://schemas.microsoft.com/office/drawing/2014/main" id="{864CCEF9-0DF7-4A61-9DCA-E8C4C7B3DFD1}"/>
                </a:ext>
              </a:extLst>
            </p:cNvPr>
            <p:cNvCxnSpPr>
              <a:stCxn id="4" idx="3"/>
              <a:endCxn id="5" idx="1"/>
            </p:cNvCxnSpPr>
            <p:nvPr/>
          </p:nvCxnSpPr>
          <p:spPr>
            <a:xfrm>
              <a:off x="3207026" y="2219739"/>
              <a:ext cx="14651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BECC7FB-3C2F-447C-85C8-5A94613BA66F}"/>
                </a:ext>
              </a:extLst>
            </p:cNvPr>
            <p:cNvCxnSpPr>
              <a:stCxn id="5" idx="3"/>
              <a:endCxn id="6" idx="1"/>
            </p:cNvCxnSpPr>
            <p:nvPr/>
          </p:nvCxnSpPr>
          <p:spPr>
            <a:xfrm flipV="1">
              <a:off x="6406599" y="2219738"/>
              <a:ext cx="14651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0368503-EB8D-4E6C-8CA2-7EBA8970A396}"/>
                </a:ext>
              </a:extLst>
            </p:cNvPr>
            <p:cNvCxnSpPr>
              <a:stCxn id="6" idx="2"/>
              <a:endCxn id="7" idx="0"/>
            </p:cNvCxnSpPr>
            <p:nvPr/>
          </p:nvCxnSpPr>
          <p:spPr>
            <a:xfrm>
              <a:off x="8680174" y="2637181"/>
              <a:ext cx="0" cy="6669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72ABEE3-BEF2-4026-8AA4-84B138F1CFCC}"/>
                </a:ext>
              </a:extLst>
            </p:cNvPr>
            <p:cNvCxnSpPr>
              <a:cxnSpLocks/>
              <a:endCxn id="8" idx="0"/>
            </p:cNvCxnSpPr>
            <p:nvPr/>
          </p:nvCxnSpPr>
          <p:spPr>
            <a:xfrm>
              <a:off x="8680173" y="4208339"/>
              <a:ext cx="1" cy="547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09CEB66-2144-4E69-8B6F-26AE5FB055B8}"/>
                </a:ext>
              </a:extLst>
            </p:cNvPr>
            <p:cNvCxnSpPr>
              <a:stCxn id="8" idx="1"/>
              <a:endCxn id="9" idx="3"/>
            </p:cNvCxnSpPr>
            <p:nvPr/>
          </p:nvCxnSpPr>
          <p:spPr>
            <a:xfrm flipH="1">
              <a:off x="6406599" y="5173427"/>
              <a:ext cx="1465192" cy="21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12B2500-0965-4E26-ABEA-B841CA4003FE}"/>
                </a:ext>
              </a:extLst>
            </p:cNvPr>
            <p:cNvCxnSpPr>
              <a:stCxn id="9" idx="1"/>
            </p:cNvCxnSpPr>
            <p:nvPr/>
          </p:nvCxnSpPr>
          <p:spPr>
            <a:xfrm flipH="1">
              <a:off x="3324642" y="5195283"/>
              <a:ext cx="14651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91171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DC1F3-C6C1-44C1-8755-234DCE82A2A3}"/>
              </a:ext>
            </a:extLst>
          </p:cNvPr>
          <p:cNvSpPr>
            <a:spLocks noGrp="1"/>
          </p:cNvSpPr>
          <p:nvPr>
            <p:ph type="title"/>
          </p:nvPr>
        </p:nvSpPr>
        <p:spPr>
          <a:xfrm>
            <a:off x="1576371" y="1417983"/>
            <a:ext cx="2876359" cy="1285460"/>
          </a:xfrm>
        </p:spPr>
        <p:txBody>
          <a:bodyPr>
            <a:noAutofit/>
          </a:bodyPr>
          <a:lstStyle/>
          <a:p>
            <a:r>
              <a:rPr lang="en-US" sz="1600" b="1" dirty="0"/>
              <a:t>Data Model:</a:t>
            </a:r>
            <a:r>
              <a:rPr lang="en-US" sz="1600" dirty="0"/>
              <a:t> Star Schema</a:t>
            </a:r>
            <a:br>
              <a:rPr lang="en-US" sz="1600" dirty="0"/>
            </a:br>
            <a:r>
              <a:rPr lang="en-US" sz="1600" b="1" dirty="0"/>
              <a:t>Fact Table:</a:t>
            </a:r>
            <a:r>
              <a:rPr lang="en-US" sz="1600" dirty="0"/>
              <a:t> Sales </a:t>
            </a:r>
            <a:br>
              <a:rPr lang="en-US" sz="1600" dirty="0"/>
            </a:br>
            <a:r>
              <a:rPr lang="en-US" sz="1600" b="1" dirty="0"/>
              <a:t>Dimension Tables:</a:t>
            </a:r>
            <a:r>
              <a:rPr lang="en-US" sz="1600" dirty="0"/>
              <a:t> Date, Product, Customer, Sales Territory</a:t>
            </a:r>
          </a:p>
        </p:txBody>
      </p:sp>
      <p:pic>
        <p:nvPicPr>
          <p:cNvPr id="6" name="Picture 5">
            <a:extLst>
              <a:ext uri="{FF2B5EF4-FFF2-40B4-BE49-F238E27FC236}">
                <a16:creationId xmlns:a16="http://schemas.microsoft.com/office/drawing/2014/main" id="{6683C275-DBFB-4974-AB61-9DCDFF7E41AA}"/>
              </a:ext>
            </a:extLst>
          </p:cNvPr>
          <p:cNvPicPr>
            <a:picLocks noChangeAspect="1"/>
          </p:cNvPicPr>
          <p:nvPr/>
        </p:nvPicPr>
        <p:blipFill>
          <a:blip r:embed="rId2"/>
          <a:stretch>
            <a:fillRect/>
          </a:stretch>
        </p:blipFill>
        <p:spPr>
          <a:xfrm>
            <a:off x="4757531" y="1532613"/>
            <a:ext cx="6818881" cy="4053194"/>
          </a:xfrm>
          <a:prstGeom prst="rect">
            <a:avLst/>
          </a:prstGeom>
        </p:spPr>
      </p:pic>
      <p:sp>
        <p:nvSpPr>
          <p:cNvPr id="7" name="Title 1">
            <a:extLst>
              <a:ext uri="{FF2B5EF4-FFF2-40B4-BE49-F238E27FC236}">
                <a16:creationId xmlns:a16="http://schemas.microsoft.com/office/drawing/2014/main" id="{1AD8E488-1C04-4E45-B6E8-22F397E19B3C}"/>
              </a:ext>
            </a:extLst>
          </p:cNvPr>
          <p:cNvSpPr txBox="1">
            <a:spLocks/>
          </p:cNvSpPr>
          <p:nvPr/>
        </p:nvSpPr>
        <p:spPr>
          <a:xfrm>
            <a:off x="1576371" y="619763"/>
            <a:ext cx="9520158" cy="67431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r>
              <a:rPr lang="en-US" b="1" dirty="0">
                <a:latin typeface="Times New Roman" panose="02020603050405020304" pitchFamily="18" charset="0"/>
                <a:cs typeface="Times New Roman" panose="02020603050405020304" pitchFamily="18" charset="0"/>
              </a:rPr>
              <a:t>Data Modeling</a:t>
            </a:r>
            <a:endParaRPr lang="en-AE"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18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28F23-BF07-4A17-8FE5-73F85263753A}"/>
              </a:ext>
            </a:extLst>
          </p:cNvPr>
          <p:cNvSpPr>
            <a:spLocks noGrp="1"/>
          </p:cNvSpPr>
          <p:nvPr>
            <p:ph type="title"/>
          </p:nvPr>
        </p:nvSpPr>
        <p:spPr>
          <a:xfrm>
            <a:off x="1534696" y="730597"/>
            <a:ext cx="9520158" cy="661058"/>
          </a:xfrm>
        </p:spPr>
        <p:txBody>
          <a:bodyPr/>
          <a:lstStyle/>
          <a:p>
            <a:r>
              <a:rPr lang="en-US" b="1" dirty="0">
                <a:latin typeface="Times New Roman" panose="02020603050405020304" pitchFamily="18" charset="0"/>
                <a:cs typeface="Times New Roman" panose="02020603050405020304" pitchFamily="18" charset="0"/>
              </a:rPr>
              <a:t>Project Objectives</a:t>
            </a:r>
            <a:endParaRPr lang="en-AE"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AD9AA1-18C3-43DB-8823-218132217E35}"/>
              </a:ext>
            </a:extLst>
          </p:cNvPr>
          <p:cNvSpPr>
            <a:spLocks noGrp="1"/>
          </p:cNvSpPr>
          <p:nvPr>
            <p:ph idx="1"/>
          </p:nvPr>
        </p:nvSpPr>
        <p:spPr>
          <a:xfrm>
            <a:off x="1534696" y="1789044"/>
            <a:ext cx="9520158" cy="3677302"/>
          </a:xfrm>
        </p:spPr>
        <p:txBody>
          <a:bodyPr>
            <a:normAutofit fontScale="92500" lnSpcReduction="10000"/>
          </a:bodyPr>
          <a:lstStyle/>
          <a:p>
            <a:r>
              <a:rPr lang="en-US" dirty="0"/>
              <a:t>The main objectives of the project were:</a:t>
            </a:r>
          </a:p>
          <a:p>
            <a:pPr>
              <a:buFont typeface="Arial" panose="020B0604020202020204" pitchFamily="34" charset="0"/>
              <a:buChar char="•"/>
            </a:pPr>
            <a:r>
              <a:rPr lang="en-US" dirty="0"/>
              <a:t>Analyze </a:t>
            </a:r>
            <a:r>
              <a:rPr lang="en-US" b="1" dirty="0"/>
              <a:t>overall sales and profitability</a:t>
            </a:r>
            <a:r>
              <a:rPr lang="en-US" dirty="0"/>
              <a:t>. </a:t>
            </a:r>
          </a:p>
          <a:p>
            <a:pPr>
              <a:buFont typeface="Arial" panose="020B0604020202020204" pitchFamily="34" charset="0"/>
              <a:buChar char="•"/>
            </a:pPr>
            <a:r>
              <a:rPr lang="en-US" dirty="0"/>
              <a:t>Understand </a:t>
            </a:r>
            <a:r>
              <a:rPr lang="en-US" b="1" dirty="0"/>
              <a:t>year-wise, month-wise, and quarter-wise sales trends</a:t>
            </a:r>
            <a:r>
              <a:rPr lang="en-US" dirty="0"/>
              <a:t>. </a:t>
            </a:r>
          </a:p>
          <a:p>
            <a:pPr>
              <a:buFont typeface="Arial" panose="020B0604020202020204" pitchFamily="34" charset="0"/>
              <a:buChar char="•"/>
            </a:pPr>
            <a:r>
              <a:rPr lang="en-US" dirty="0"/>
              <a:t>Identify </a:t>
            </a:r>
            <a:r>
              <a:rPr lang="en-US" b="1" dirty="0"/>
              <a:t>top-performing products and customers</a:t>
            </a:r>
            <a:r>
              <a:rPr lang="en-US" dirty="0"/>
              <a:t>. </a:t>
            </a:r>
          </a:p>
          <a:p>
            <a:pPr>
              <a:buFont typeface="Arial" panose="020B0604020202020204" pitchFamily="34" charset="0"/>
              <a:buChar char="•"/>
            </a:pPr>
            <a:r>
              <a:rPr lang="en-US" dirty="0"/>
              <a:t>Compare performance across </a:t>
            </a:r>
            <a:r>
              <a:rPr lang="en-US" b="1" dirty="0"/>
              <a:t>different regions</a:t>
            </a:r>
            <a:r>
              <a:rPr lang="en-US" dirty="0"/>
              <a:t>. </a:t>
            </a:r>
          </a:p>
          <a:p>
            <a:pPr>
              <a:buFont typeface="Arial" panose="020B0604020202020204" pitchFamily="34" charset="0"/>
              <a:buChar char="•"/>
            </a:pPr>
            <a:r>
              <a:rPr lang="en-US" dirty="0"/>
              <a:t>Analyze </a:t>
            </a:r>
            <a:r>
              <a:rPr lang="en-US" b="1" dirty="0"/>
              <a:t>production cost and profit</a:t>
            </a:r>
            <a:r>
              <a:rPr lang="en-US" dirty="0"/>
              <a:t>. </a:t>
            </a:r>
          </a:p>
          <a:p>
            <a:pPr>
              <a:buFont typeface="Arial" panose="020B0604020202020204" pitchFamily="34" charset="0"/>
              <a:buChar char="•"/>
            </a:pPr>
            <a:r>
              <a:rPr lang="en-US" dirty="0"/>
              <a:t>Create interactive dashboards for </a:t>
            </a:r>
            <a:r>
              <a:rPr lang="en-US" b="1" dirty="0"/>
              <a:t>business performance monitoring</a:t>
            </a:r>
            <a:r>
              <a:rPr lang="en-US" dirty="0"/>
              <a:t>. </a:t>
            </a:r>
          </a:p>
          <a:p>
            <a:pPr>
              <a:buFont typeface="Arial" panose="020B0604020202020204" pitchFamily="34" charset="0"/>
              <a:buChar char="•"/>
            </a:pPr>
            <a:r>
              <a:rPr lang="en-US" dirty="0"/>
              <a:t>Generate meaningful insights to support </a:t>
            </a:r>
            <a:r>
              <a:rPr lang="en-US" b="1" dirty="0"/>
              <a:t>data-driven decisions</a:t>
            </a:r>
            <a:r>
              <a:rPr lang="en-US" dirty="0"/>
              <a:t>.</a:t>
            </a:r>
          </a:p>
          <a:p>
            <a:endParaRPr lang="en-AE" dirty="0"/>
          </a:p>
        </p:txBody>
      </p:sp>
    </p:spTree>
    <p:extLst>
      <p:ext uri="{BB962C8B-B14F-4D97-AF65-F5344CB8AC3E}">
        <p14:creationId xmlns:p14="http://schemas.microsoft.com/office/powerpoint/2010/main" val="1507710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E9C64-1D81-9439-0FED-4DEA0C24BA2A}"/>
              </a:ext>
            </a:extLst>
          </p:cNvPr>
          <p:cNvSpPr>
            <a:spLocks noGrp="1"/>
          </p:cNvSpPr>
          <p:nvPr>
            <p:ph type="title"/>
          </p:nvPr>
        </p:nvSpPr>
        <p:spPr>
          <a:xfrm>
            <a:off x="1534696" y="625034"/>
            <a:ext cx="9520158" cy="766622"/>
          </a:xfrm>
        </p:spPr>
        <p:txBody>
          <a:bodyPr/>
          <a:lstStyle/>
          <a:p>
            <a:r>
              <a:rPr lang="en-IN" b="1" dirty="0"/>
              <a:t>Key Takeaways:</a:t>
            </a:r>
          </a:p>
        </p:txBody>
      </p:sp>
      <p:sp>
        <p:nvSpPr>
          <p:cNvPr id="3" name="Content Placeholder 2">
            <a:extLst>
              <a:ext uri="{FF2B5EF4-FFF2-40B4-BE49-F238E27FC236}">
                <a16:creationId xmlns:a16="http://schemas.microsoft.com/office/drawing/2014/main" id="{C2B8B7EA-ABB9-4553-6DF4-FFC1D9BC183D}"/>
              </a:ext>
            </a:extLst>
          </p:cNvPr>
          <p:cNvSpPr>
            <a:spLocks noGrp="1"/>
          </p:cNvSpPr>
          <p:nvPr>
            <p:ph idx="1"/>
          </p:nvPr>
        </p:nvSpPr>
        <p:spPr>
          <a:xfrm>
            <a:off x="1534696" y="1551007"/>
            <a:ext cx="9520158" cy="4433103"/>
          </a:xfrm>
        </p:spPr>
        <p:txBody>
          <a:bodyPr>
            <a:normAutofit fontScale="25000" lnSpcReduction="20000"/>
          </a:bodyPr>
          <a:lstStyle/>
          <a:p>
            <a:endParaRPr lang="en-US" dirty="0"/>
          </a:p>
          <a:p>
            <a:r>
              <a:rPr lang="en-US" sz="8000" dirty="0"/>
              <a:t>Total Sales: The company generated approximately 29M in total sales from around 28K orders.</a:t>
            </a:r>
          </a:p>
          <a:p>
            <a:endParaRPr lang="en-US" sz="8000" dirty="0"/>
          </a:p>
          <a:p>
            <a:r>
              <a:rPr lang="en-US" sz="8000" dirty="0"/>
              <a:t>Profitability: The business earned approximately 12M profit against a 17M production cost, indicating a strong overall profit contribution.</a:t>
            </a:r>
          </a:p>
          <a:p>
            <a:endParaRPr lang="en-US" sz="8000" dirty="0"/>
          </a:p>
          <a:p>
            <a:r>
              <a:rPr lang="en-US" sz="8000" dirty="0"/>
              <a:t>Year-wise performance: 2013 was the best-performing year, with sales of approximately 16.35M, much higher than 2011 and 2012.</a:t>
            </a:r>
          </a:p>
          <a:p>
            <a:endParaRPr lang="en-US" sz="8000" dirty="0"/>
          </a:p>
          <a:p>
            <a:r>
              <a:rPr lang="en-US" sz="8000" dirty="0"/>
              <a:t>Monthly sales: June recorded the highest monthly sales, at approximately 3.06M, while February had the lowest, at around 1.74M.</a:t>
            </a:r>
          </a:p>
          <a:p>
            <a:endParaRPr lang="en-US" sz="8000" dirty="0"/>
          </a:p>
          <a:p>
            <a:endParaRPr lang="en-US" sz="8000" dirty="0"/>
          </a:p>
          <a:p>
            <a:endParaRPr lang="en-US" sz="8000" dirty="0"/>
          </a:p>
          <a:p>
            <a:endParaRPr lang="en-US" sz="4200" dirty="0"/>
          </a:p>
          <a:p>
            <a:endParaRPr lang="en-US" sz="4200" dirty="0"/>
          </a:p>
          <a:p>
            <a:endParaRPr lang="en-US" sz="4200" dirty="0"/>
          </a:p>
          <a:p>
            <a:endParaRPr lang="en-US" dirty="0"/>
          </a:p>
        </p:txBody>
      </p:sp>
    </p:spTree>
    <p:extLst>
      <p:ext uri="{BB962C8B-B14F-4D97-AF65-F5344CB8AC3E}">
        <p14:creationId xmlns:p14="http://schemas.microsoft.com/office/powerpoint/2010/main" val="3427237680"/>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ED2785-ED87-0054-851B-6C1156622D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8421" y="1195127"/>
            <a:ext cx="8193579" cy="4971993"/>
          </a:xfrm>
          <a:prstGeom prst="rect">
            <a:avLst/>
          </a:prstGeom>
        </p:spPr>
      </p:pic>
      <p:sp>
        <p:nvSpPr>
          <p:cNvPr id="5" name="TextBox 4">
            <a:extLst>
              <a:ext uri="{FF2B5EF4-FFF2-40B4-BE49-F238E27FC236}">
                <a16:creationId xmlns:a16="http://schemas.microsoft.com/office/drawing/2014/main" id="{3A6066A9-0F67-CB08-38F0-3367C1F407DB}"/>
              </a:ext>
            </a:extLst>
          </p:cNvPr>
          <p:cNvSpPr txBox="1"/>
          <p:nvPr/>
        </p:nvSpPr>
        <p:spPr>
          <a:xfrm>
            <a:off x="398780" y="1437382"/>
            <a:ext cx="3147060" cy="369331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This Excel dashboard represents the sales performance of Adventure Works. It provides important KPIs such as total orders, average profit, total sales, and production cost. The dashboard also analyzes sales by month, year, and quarter.</a:t>
            </a: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p>
          <a:p>
            <a:endParaRPr lang="en-IN" sz="1400" dirty="0"/>
          </a:p>
        </p:txBody>
      </p:sp>
      <p:sp>
        <p:nvSpPr>
          <p:cNvPr id="6" name="Title 1">
            <a:extLst>
              <a:ext uri="{FF2B5EF4-FFF2-40B4-BE49-F238E27FC236}">
                <a16:creationId xmlns:a16="http://schemas.microsoft.com/office/drawing/2014/main" id="{7B14D59F-A21A-CDA0-FE47-012BDEFE6646}"/>
              </a:ext>
            </a:extLst>
          </p:cNvPr>
          <p:cNvSpPr txBox="1">
            <a:spLocks/>
          </p:cNvSpPr>
          <p:nvPr/>
        </p:nvSpPr>
        <p:spPr>
          <a:xfrm>
            <a:off x="1395662" y="145892"/>
            <a:ext cx="9520158" cy="1049235"/>
          </a:xfrm>
          <a:prstGeom prst="rect">
            <a:avLst/>
          </a:prstGeom>
        </p:spPr>
        <p:txBody>
          <a:bodyPr anchor="ctr"/>
          <a:lst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pPr algn="ctr"/>
            <a:r>
              <a:rPr lang="en-IN" b="1"/>
              <a:t>Key Insights from Dashboard</a:t>
            </a:r>
            <a:endParaRPr lang="en-IN" b="1" dirty="0"/>
          </a:p>
        </p:txBody>
      </p:sp>
    </p:spTree>
    <p:extLst>
      <p:ext uri="{BB962C8B-B14F-4D97-AF65-F5344CB8AC3E}">
        <p14:creationId xmlns:p14="http://schemas.microsoft.com/office/powerpoint/2010/main" val="2569148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F96EE-7724-0D3C-91A0-B7E7F78E346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46BF78D-63D3-4590-13E1-E0E03A705E77}"/>
              </a:ext>
            </a:extLst>
          </p:cNvPr>
          <p:cNvSpPr txBox="1"/>
          <p:nvPr/>
        </p:nvSpPr>
        <p:spPr>
          <a:xfrm>
            <a:off x="398780" y="1437382"/>
            <a:ext cx="3147060" cy="3785652"/>
          </a:xfrm>
          <a:prstGeom prst="rect">
            <a:avLst/>
          </a:prstGeom>
          <a:noFill/>
        </p:spPr>
        <p:txBody>
          <a:bodyPr wrap="square">
            <a:spAutoFit/>
          </a:bodyPr>
          <a:lstStyle/>
          <a:p>
            <a:pPr marL="457200"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Power BI dashboard provides a clear and interactive view of sales performance. It helps management monitor KPIs, compare regions and products, analyze quarterly and monthly trends, and make better business decisions based on sales and profit data.</a:t>
            </a:r>
            <a:endParaRPr lang="en-IN" sz="2000"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AFF25AB2-B33E-42D9-54D4-FB17162A3697}"/>
              </a:ext>
            </a:extLst>
          </p:cNvPr>
          <p:cNvSpPr txBox="1">
            <a:spLocks/>
          </p:cNvSpPr>
          <p:nvPr/>
        </p:nvSpPr>
        <p:spPr>
          <a:xfrm>
            <a:off x="1395662" y="145892"/>
            <a:ext cx="9520158" cy="1049235"/>
          </a:xfrm>
          <a:prstGeom prst="rect">
            <a:avLst/>
          </a:prstGeom>
        </p:spPr>
        <p:txBody>
          <a:bodyPr anchor="ctr"/>
          <a:lst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pPr algn="ctr"/>
            <a:r>
              <a:rPr lang="en-IN" b="1" dirty="0"/>
              <a:t>Key Insights from Dashboard</a:t>
            </a:r>
          </a:p>
        </p:txBody>
      </p:sp>
      <p:pic>
        <p:nvPicPr>
          <p:cNvPr id="2" name="Content Placeholder 4">
            <a:extLst>
              <a:ext uri="{FF2B5EF4-FFF2-40B4-BE49-F238E27FC236}">
                <a16:creationId xmlns:a16="http://schemas.microsoft.com/office/drawing/2014/main" id="{A7759E86-6CE7-35E9-3E75-3EAE4E301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0032" y="1195126"/>
            <a:ext cx="8671968" cy="4768794"/>
          </a:xfrm>
          <a:prstGeom prst="rect">
            <a:avLst/>
          </a:prstGeom>
        </p:spPr>
      </p:pic>
    </p:spTree>
    <p:extLst>
      <p:ext uri="{BB962C8B-B14F-4D97-AF65-F5344CB8AC3E}">
        <p14:creationId xmlns:p14="http://schemas.microsoft.com/office/powerpoint/2010/main" val="19393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893FA6F-83D5-6857-44A7-CEDB61498102}"/>
              </a:ext>
            </a:extLst>
          </p:cNvPr>
          <p:cNvSpPr txBox="1">
            <a:spLocks/>
          </p:cNvSpPr>
          <p:nvPr/>
        </p:nvSpPr>
        <p:spPr>
          <a:xfrm>
            <a:off x="1395662" y="145892"/>
            <a:ext cx="9520158" cy="1049235"/>
          </a:xfrm>
          <a:prstGeom prst="rect">
            <a:avLst/>
          </a:prstGeom>
        </p:spPr>
        <p:txBody>
          <a:bodyPr anchor="ctr"/>
          <a:lst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pPr algn="ctr"/>
            <a:r>
              <a:rPr lang="en-IN" b="1" dirty="0"/>
              <a:t>Key Insights from Dashboard</a:t>
            </a:r>
          </a:p>
        </p:txBody>
      </p:sp>
      <p:sp>
        <p:nvSpPr>
          <p:cNvPr id="5" name="TextBox 4">
            <a:extLst>
              <a:ext uri="{FF2B5EF4-FFF2-40B4-BE49-F238E27FC236}">
                <a16:creationId xmlns:a16="http://schemas.microsoft.com/office/drawing/2014/main" id="{03FC54C1-156E-8E81-2BD9-465DE43F50FE}"/>
              </a:ext>
            </a:extLst>
          </p:cNvPr>
          <p:cNvSpPr txBox="1"/>
          <p:nvPr/>
        </p:nvSpPr>
        <p:spPr>
          <a:xfrm>
            <a:off x="327660" y="1195127"/>
            <a:ext cx="3492500" cy="4708981"/>
          </a:xfrm>
          <a:prstGeom prst="rect">
            <a:avLst/>
          </a:prstGeom>
          <a:noFill/>
        </p:spPr>
        <p:txBody>
          <a:bodyPr wrap="square">
            <a:spAutoFit/>
          </a:bodyPr>
          <a:lstStyle/>
          <a:p>
            <a:pPr marL="457200"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Adventure Works Tableau dashboard provides a complete view of business performance. It helps management track sales, profit, production cost, orders, and regional performance. The dashboard shows that 2013 had the highest yearly sales, Q4 had the highest quarterly sales, December had the highest monthly sales, and Australia was the top-performing region.</a:t>
            </a:r>
            <a:endParaRPr lang="en-IN" sz="2000" dirty="0">
              <a:latin typeface="Times New Roman" panose="02020603050405020304" pitchFamily="18" charset="0"/>
              <a:cs typeface="Times New Roman" panose="02020603050405020304" pitchFamily="18" charset="0"/>
            </a:endParaRPr>
          </a:p>
        </p:txBody>
      </p:sp>
      <p:pic>
        <p:nvPicPr>
          <p:cNvPr id="6" name="Content Placeholder 8">
            <a:extLst>
              <a:ext uri="{FF2B5EF4-FFF2-40B4-BE49-F238E27FC236}">
                <a16:creationId xmlns:a16="http://schemas.microsoft.com/office/drawing/2014/main" id="{34A549C2-BF6D-47F3-BC19-C74AC01C5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3184" y="1351279"/>
            <a:ext cx="8218816" cy="4708981"/>
          </a:xfrm>
          <a:prstGeom prst="rect">
            <a:avLst/>
          </a:prstGeom>
        </p:spPr>
      </p:pic>
    </p:spTree>
    <p:extLst>
      <p:ext uri="{BB962C8B-B14F-4D97-AF65-F5344CB8AC3E}">
        <p14:creationId xmlns:p14="http://schemas.microsoft.com/office/powerpoint/2010/main" val="178341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EFCB3-F396-5E10-9D6D-2DC3A4D9F68D}"/>
              </a:ext>
            </a:extLst>
          </p:cNvPr>
          <p:cNvSpPr>
            <a:spLocks noGrp="1"/>
          </p:cNvSpPr>
          <p:nvPr>
            <p:ph type="title"/>
          </p:nvPr>
        </p:nvSpPr>
        <p:spPr>
          <a:xfrm>
            <a:off x="1534696" y="804520"/>
            <a:ext cx="9520158" cy="587136"/>
          </a:xfrm>
        </p:spPr>
        <p:txBody>
          <a:bodyPr/>
          <a:lstStyle/>
          <a:p>
            <a:r>
              <a:rPr lang="en-IN" b="1" dirty="0">
                <a:latin typeface="Times New Roman" panose="02020603050405020304" pitchFamily="18" charset="0"/>
                <a:cs typeface="Times New Roman" panose="02020603050405020304" pitchFamily="18" charset="0"/>
              </a:rPr>
              <a:t>Key Insights and Interpretation:</a:t>
            </a:r>
          </a:p>
        </p:txBody>
      </p:sp>
      <p:sp>
        <p:nvSpPr>
          <p:cNvPr id="3" name="Content Placeholder 2">
            <a:extLst>
              <a:ext uri="{FF2B5EF4-FFF2-40B4-BE49-F238E27FC236}">
                <a16:creationId xmlns:a16="http://schemas.microsoft.com/office/drawing/2014/main" id="{B795DEA1-EB74-EA6C-6F1A-7A351928747E}"/>
              </a:ext>
            </a:extLst>
          </p:cNvPr>
          <p:cNvSpPr>
            <a:spLocks noGrp="1"/>
          </p:cNvSpPr>
          <p:nvPr>
            <p:ph idx="1"/>
          </p:nvPr>
        </p:nvSpPr>
        <p:spPr>
          <a:xfrm>
            <a:off x="1448069" y="1582596"/>
            <a:ext cx="9520158" cy="3450613"/>
          </a:xfrm>
        </p:spPr>
        <p:txBody>
          <a:bodyPr>
            <a:noAutofit/>
          </a:bodyPr>
          <a:lstStyle/>
          <a:p>
            <a:r>
              <a:rPr lang="en-US" dirty="0"/>
              <a:t>The dashboard indicates that Adventure Works performed strongly overall, generating 29M in sales and 12M in profit. The significant increase in sales during 2013 suggests strong business growth during that period.</a:t>
            </a:r>
          </a:p>
          <a:p>
            <a:r>
              <a:rPr lang="en-US" dirty="0"/>
              <a:t>Australia is the company's strongest sales region, so maintaining its performance could be important. At the same time, lower-performing regions such as Central and Southeast could be investigated to understand factors such as demand, customer base, or market coverage.</a:t>
            </a:r>
          </a:p>
          <a:p>
            <a:r>
              <a:rPr lang="en-US" dirty="0"/>
              <a:t>The monthly and quarterly analysis shows that sales fluctuate throughout the year. The particularly strong performance in June and Q4 can help the company plan inventory, marketing campaigns, and sales strategies around high-demand periods.</a:t>
            </a:r>
            <a:endParaRPr lang="en-IN" dirty="0"/>
          </a:p>
        </p:txBody>
      </p:sp>
    </p:spTree>
    <p:extLst>
      <p:ext uri="{BB962C8B-B14F-4D97-AF65-F5344CB8AC3E}">
        <p14:creationId xmlns:p14="http://schemas.microsoft.com/office/powerpoint/2010/main" val="3074232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14972-1D79-2D09-B938-C927D69D25A5}"/>
              </a:ext>
            </a:extLst>
          </p:cNvPr>
          <p:cNvSpPr>
            <a:spLocks noGrp="1"/>
          </p:cNvSpPr>
          <p:nvPr>
            <p:ph type="title"/>
          </p:nvPr>
        </p:nvSpPr>
        <p:spPr>
          <a:xfrm>
            <a:off x="1534696" y="804519"/>
            <a:ext cx="9520158" cy="1049235"/>
          </a:xfrm>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71F6C91D-A5F6-47B4-607F-D8E5013618A0}"/>
              </a:ext>
            </a:extLst>
          </p:cNvPr>
          <p:cNvSpPr>
            <a:spLocks noGrp="1"/>
          </p:cNvSpPr>
          <p:nvPr>
            <p:ph idx="1"/>
          </p:nvPr>
        </p:nvSpPr>
        <p:spPr>
          <a:xfrm>
            <a:off x="1534696" y="2015732"/>
            <a:ext cx="9520158" cy="3450613"/>
          </a:xfrm>
        </p:spPr>
        <p:txBody>
          <a:bodyPr>
            <a:normAutofit lnSpcReduction="10000"/>
          </a:bodyPr>
          <a:lstStyle/>
          <a:p>
            <a:r>
              <a:rPr lang="en-US" dirty="0"/>
              <a:t>The Adventure Works Sales Analysis provides a clear view of sales, profit, production cost, orders, time-based trends, and regional performance. By using data cleaning, data analysis, visualization, and interactive dashboards, meaningful business insights can be identified from the raw data. The analysis shows that 2013 was the strongest sales year, Australia was the leading region, June had the highest monthly sales, and Q4 was the strongest quarter. These insights can help the business improve regional strategies, plan inventory, and focus on high-performing periods to drive future growth. Overall, the project demonstrates how data analytics tools can transform business data into actionable information for decision-making</a:t>
            </a:r>
            <a:endParaRPr lang="en-IN" dirty="0"/>
          </a:p>
        </p:txBody>
      </p:sp>
    </p:spTree>
    <p:extLst>
      <p:ext uri="{BB962C8B-B14F-4D97-AF65-F5344CB8AC3E}">
        <p14:creationId xmlns:p14="http://schemas.microsoft.com/office/powerpoint/2010/main" val="444651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EB21F0-DD52-94D7-AD8B-0B4A7EEFFF1E}"/>
              </a:ext>
            </a:extLst>
          </p:cNvPr>
          <p:cNvSpPr>
            <a:spLocks noGrp="1"/>
          </p:cNvSpPr>
          <p:nvPr>
            <p:ph idx="1"/>
          </p:nvPr>
        </p:nvSpPr>
        <p:spPr>
          <a:xfrm>
            <a:off x="1501541" y="683394"/>
            <a:ext cx="9553313" cy="4782951"/>
          </a:xfrm>
        </p:spPr>
        <p:txBody>
          <a:bodyPr/>
          <a:lstStyle/>
          <a:p>
            <a:r>
              <a:rPr lang="en-US" sz="2800" b="1" dirty="0">
                <a:latin typeface="Times New Roman" panose="02020603050405020304" pitchFamily="18" charset="0"/>
                <a:cs typeface="Times New Roman" panose="02020603050405020304" pitchFamily="18" charset="0"/>
              </a:rPr>
              <a:t>Future Scope:</a:t>
            </a:r>
            <a:endParaRPr lang="en-US" sz="2800" b="1" dirty="0"/>
          </a:p>
          <a:p>
            <a:r>
              <a:rPr lang="en-US" b="1" dirty="0">
                <a:latin typeface="Times New Roman" panose="02020603050405020304" pitchFamily="18" charset="0"/>
                <a:cs typeface="Times New Roman" panose="02020603050405020304" pitchFamily="18" charset="0"/>
              </a:rPr>
              <a:t>1. Sales Forecasting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 Machine Learning to predict future sales based on historical sales data.</a:t>
            </a:r>
          </a:p>
          <a:p>
            <a:r>
              <a:rPr lang="en-US" b="1" dirty="0">
                <a:latin typeface="Times New Roman" panose="02020603050405020304" pitchFamily="18" charset="0"/>
                <a:cs typeface="Times New Roman" panose="02020603050405020304" pitchFamily="18" charset="0"/>
              </a:rPr>
              <a:t>2. Customer Segmentation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Group customers based on purchasing behavior, location, spending, and frequency.</a:t>
            </a:r>
          </a:p>
          <a:p>
            <a:r>
              <a:rPr lang="en-US" b="1" dirty="0">
                <a:latin typeface="Times New Roman" panose="02020603050405020304" pitchFamily="18" charset="0"/>
                <a:cs typeface="Times New Roman" panose="02020603050405020304" pitchFamily="18" charset="0"/>
              </a:rPr>
              <a:t>3. Real-Time Dashboard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Connect Power BI to a live/updated database so that sales information refreshes automatically.</a:t>
            </a:r>
          </a:p>
          <a:p>
            <a:r>
              <a:rPr lang="en-US" b="1" dirty="0">
                <a:latin typeface="Times New Roman" panose="02020603050405020304" pitchFamily="18" charset="0"/>
                <a:cs typeface="Times New Roman" panose="02020603050405020304" pitchFamily="18" charset="0"/>
              </a:rPr>
              <a:t>4. Profitability Analysis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Extend the analysis from sales to </a:t>
            </a:r>
            <a:r>
              <a:rPr lang="en-US" b="1" dirty="0">
                <a:latin typeface="Times New Roman" panose="02020603050405020304" pitchFamily="18" charset="0"/>
                <a:cs typeface="Times New Roman" panose="02020603050405020304" pitchFamily="18" charset="0"/>
              </a:rPr>
              <a:t>profit, profit margin, discounts, and costs</a:t>
            </a:r>
            <a:r>
              <a:rPr lang="en-US" dirty="0">
                <a:latin typeface="Times New Roman" panose="02020603050405020304" pitchFamily="18" charset="0"/>
                <a:cs typeface="Times New Roman" panose="02020603050405020304" pitchFamily="18" charset="0"/>
              </a:rPr>
              <a:t> to understand actual business performance.</a:t>
            </a:r>
          </a:p>
          <a:p>
            <a:endParaRPr lang="en-US"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09810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9A553-7E72-8CB4-F7FB-C2F86E37DFFE}"/>
              </a:ext>
            </a:extLst>
          </p:cNvPr>
          <p:cNvSpPr>
            <a:spLocks noGrp="1"/>
          </p:cNvSpPr>
          <p:nvPr>
            <p:ph type="title"/>
          </p:nvPr>
        </p:nvSpPr>
        <p:spPr>
          <a:xfrm>
            <a:off x="4283242" y="2091008"/>
            <a:ext cx="6790861" cy="1049235"/>
          </a:xfrm>
        </p:spPr>
        <p:txBody>
          <a:bodyPr>
            <a:normAutofit/>
          </a:bodyPr>
          <a:lstStyle/>
          <a:p>
            <a:r>
              <a:rPr lang="en-IN" sz="3600" b="1" dirty="0"/>
              <a:t>Thank You</a:t>
            </a:r>
          </a:p>
        </p:txBody>
      </p:sp>
    </p:spTree>
    <p:extLst>
      <p:ext uri="{BB962C8B-B14F-4D97-AF65-F5344CB8AC3E}">
        <p14:creationId xmlns:p14="http://schemas.microsoft.com/office/powerpoint/2010/main" val="52344958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ppt/theme/themeOverride1.xml><?xml version="1.0" encoding="utf-8"?>
<a:themeOverride xmlns:a="http://schemas.openxmlformats.org/drawingml/2006/main">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themeOverride>
</file>

<file path=docProps/app.xml><?xml version="1.0" encoding="utf-8"?>
<Properties xmlns="http://schemas.openxmlformats.org/officeDocument/2006/extended-properties" xmlns:vt="http://schemas.openxmlformats.org/officeDocument/2006/docPropsVTypes">
  <Template/>
  <TotalTime>229</TotalTime>
  <Words>771</Words>
  <Application>Microsoft Office PowerPoint</Application>
  <PresentationFormat>Widescreen</PresentationFormat>
  <Paragraphs>64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Palatino Linotype</vt:lpstr>
      <vt:lpstr>Times New Roman</vt:lpstr>
      <vt:lpstr>Gallery</vt:lpstr>
      <vt:lpstr>Adventure Works</vt:lpstr>
      <vt:lpstr>Group members</vt:lpstr>
      <vt:lpstr>Project summary</vt:lpstr>
      <vt:lpstr>Workflow Followed</vt:lpstr>
      <vt:lpstr>Data Model: Star Schema Fact Table: Sales  Dimension Tables: Date, Product, Customer, Sales Territory</vt:lpstr>
      <vt:lpstr>Project Objectives</vt:lpstr>
      <vt:lpstr>Key Takeaways:</vt:lpstr>
      <vt:lpstr>PowerPoint Presentation</vt:lpstr>
      <vt:lpstr>PowerPoint Presentation</vt:lpstr>
      <vt:lpstr>PowerPoint Presentation</vt:lpstr>
      <vt:lpstr>Key Insights and Interpretation:</vt:lpstr>
      <vt:lpstr>Conclusion: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Geethanjali M</cp:lastModifiedBy>
  <cp:revision>9</cp:revision>
  <dcterms:created xsi:type="dcterms:W3CDTF">2026-08-08T14:43:54Z</dcterms:created>
  <dcterms:modified xsi:type="dcterms:W3CDTF">2026-08-10T09:04:52Z</dcterms:modified>
</cp:coreProperties>
</file>